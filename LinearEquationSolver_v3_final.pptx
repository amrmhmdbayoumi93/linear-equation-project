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uml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"/>
            <a:ext cx="4114800" cy="4114800"/>
          </a:xfrm>
          <a:prstGeom prst="ellipse">
            <a:avLst/>
          </a:prstGeom>
          <a:solidFill>
            <a:srgbClr val="1A1A1A">
              <a:alpha val="12000"/>
            </a:srgbClr>
          </a:solidFill>
          <a:ln w="12700">
            <a:solidFill>
              <a:srgbClr val="1A1A1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822960"/>
            <a:ext cx="2834640" cy="2834640"/>
          </a:xfrm>
          <a:prstGeom prst="ellipse">
            <a:avLst/>
          </a:prstGeom>
          <a:solidFill>
            <a:srgbClr val="1A1A1A">
              <a:alpha val="20000"/>
            </a:srgbClr>
          </a:solidFill>
          <a:ln w="12700">
            <a:solidFill>
              <a:srgbClr val="1A1A1A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ax + by = c 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Equation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Project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Elimination · Cramer's Rule · OOP Design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0F0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06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Abdelsamie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42062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0F0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4206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Maiar Emam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42062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0F0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4206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Muhammad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42062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0F0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4206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Elsayed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691640"/>
          </a:xfrm>
          <a:prstGeom prst="rect">
            <a:avLst/>
          </a:prstGeom>
          <a:solidFill>
            <a:srgbClr val="F0F0F0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1691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612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and solve systems of linear equations using C++ with OOP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023360" cy="1691640"/>
          </a:xfrm>
          <a:prstGeom prst="rect">
            <a:avLst/>
          </a:prstGeom>
          <a:solidFill>
            <a:srgbClr val="F0F0F0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54864" cy="1691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612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Method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Cramer's Rule with matrix determinants for exact solutions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023360" cy="1691640"/>
          </a:xfrm>
          <a:prstGeom prst="rect">
            <a:avLst/>
          </a:prstGeom>
          <a:solidFill>
            <a:srgbClr val="F0F0F0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71800"/>
            <a:ext cx="54864" cy="1691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81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Structure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struct, Equation class, and Solver class working together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023360" cy="1691640"/>
          </a:xfrm>
          <a:prstGeom prst="rect">
            <a:avLst/>
          </a:prstGeom>
          <a:solidFill>
            <a:srgbClr val="F0F0F0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71800"/>
            <a:ext cx="54864" cy="1691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081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Input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34747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based: read equations, execute operations interactively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3200400"/>
          </a:xfrm>
          <a:prstGeom prst="rect">
            <a:avLst/>
          </a:prstGeom>
          <a:solidFill>
            <a:srgbClr val="F0F0F0"/>
          </a:solidFill>
          <a:ln w="25400">
            <a:solidFill>
              <a:srgbClr val="2D2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2651760" cy="5029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Term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coeff : float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: string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71800" y="2606040"/>
            <a:ext cx="228600" cy="5486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051560"/>
            <a:ext cx="2651760" cy="3200400"/>
          </a:xfrm>
          <a:prstGeom prst="rect">
            <a:avLst/>
          </a:prstGeom>
          <a:solidFill>
            <a:srgbClr val="F0F0F0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051560"/>
            <a:ext cx="26517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Equation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64592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terms : vector&lt;Term&gt;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rhs : float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simplify() / toString()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2606040"/>
            <a:ext cx="228600" cy="54864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1051560"/>
            <a:ext cx="2651760" cy="3200400"/>
          </a:xfrm>
          <a:prstGeom prst="rect">
            <a:avLst/>
          </a:prstGeom>
          <a:solidFill>
            <a:srgbClr val="F0F0F0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051560"/>
            <a:ext cx="26517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Solver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164592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eqs / all_vars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readEquations()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execute() + 9 funcs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is used by →  Equation  →  Solver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1143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02920" cy="1143000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0789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parseTerm()  ·  readEquation()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3898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tokens into Term (coeff+var); reads n equations into Term list + RHS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190195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Maiar Emam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60520" cy="1143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05840"/>
            <a:ext cx="502920" cy="1143000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0584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0789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updateVarList()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13898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all equations and rebuilds the master list of distinct variable names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49240" y="190195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Sara Abdelsamie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4160520" cy="1143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331720"/>
            <a:ext cx="502920" cy="1143000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33172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24048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getCoeffMatrix()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271576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n×n coefficient matrix for Cramer's Rule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322783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Amr Muhammad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331720"/>
            <a:ext cx="4160520" cy="1143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331720"/>
            <a:ext cx="502920" cy="1143000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33172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24048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determinant()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271576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cofactor expansion to compute det of any n×n matrix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49240" y="322783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Amr Muhammad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657600"/>
            <a:ext cx="4160520" cy="1143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657600"/>
            <a:ext cx="502920" cy="1143000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65760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" y="37307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substituteVar()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8680" y="40416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a variable by substituting one equation into another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68680" y="455371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Ahmad Elsayed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657600"/>
            <a:ext cx="4160520" cy="1143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657600"/>
            <a:ext cx="502920" cy="1143000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65760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37307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9240" y="40416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loop: solve, add, subtract, column, equation, D, D_value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49240" y="455371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Amr Muhammad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Cramer's Rule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02920" cy="5029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93776" y="1554480"/>
            <a:ext cx="54864" cy="265176"/>
          </a:xfrm>
          <a:prstGeom prst="rect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1A1A1A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051560"/>
            <a:ext cx="7680960" cy="54864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08813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Equations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3258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 n equations. Each is parsed into Term list + RHS.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819656"/>
            <a:ext cx="502920" cy="5029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19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3776" y="2322576"/>
            <a:ext cx="54864" cy="265176"/>
          </a:xfrm>
          <a:prstGeom prst="rect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1A1A1A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1819656"/>
            <a:ext cx="7680960" cy="54864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18562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Matrix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09397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getCoeffMatrix() creates the coefficient matrix A[n][n].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587752"/>
            <a:ext cx="502920" cy="5029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3776" y="3090672"/>
            <a:ext cx="54864" cy="265176"/>
          </a:xfrm>
          <a:prstGeom prst="rect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1A1A1A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2587752"/>
            <a:ext cx="7680960" cy="54864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26243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det(A)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28620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determinant() uses recursive cofactor expansion.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355848"/>
            <a:ext cx="502920" cy="5029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55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93776" y="3858768"/>
            <a:ext cx="54864" cy="265176"/>
          </a:xfrm>
          <a:prstGeom prst="rect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1A1A1A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3355848"/>
            <a:ext cx="7680960" cy="54864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33924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Cramer's Loop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36301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variable, replace column with RHS → compute det(Aᵥ).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4123944"/>
            <a:ext cx="502920" cy="5029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123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05840" y="4123944"/>
            <a:ext cx="7680960" cy="54864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1605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Solution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7280" y="43982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xᵥ = det(Aᵥ) / det(A). Print result for each variable.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Commands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00584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412480" cy="34747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0" y="138988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 system using Cramer's Rule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746504"/>
            <a:ext cx="8412480" cy="347472"/>
          </a:xfrm>
          <a:prstGeom prst="rect">
            <a:avLst/>
          </a:prstGeom>
          <a:solidFill>
            <a:srgbClr val="E4E4E4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465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0" y="174650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full coefficient matrix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8412480" cy="34747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03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&lt;var&gt;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00400" y="210312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matrix with a column replaced by RHS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459736"/>
            <a:ext cx="8412480" cy="347472"/>
          </a:xfrm>
          <a:prstGeom prst="rect">
            <a:avLst/>
          </a:prstGeom>
          <a:solidFill>
            <a:srgbClr val="E4E4E4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597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D_value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0" y="245973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determinant of the coefficient matrix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2816352"/>
            <a:ext cx="8412480" cy="34747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163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equation &lt;n&gt;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0" y="281635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equation n in simplified form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172968"/>
            <a:ext cx="8412480" cy="347472"/>
          </a:xfrm>
          <a:prstGeom prst="rect">
            <a:avLst/>
          </a:prstGeom>
          <a:solidFill>
            <a:srgbClr val="E4E4E4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729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 &lt;var&gt;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0" y="317296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all coefficients for a given variable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3529584"/>
            <a:ext cx="8412480" cy="34747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295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&lt;a&gt; &lt;b&gt;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0" y="352958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equations a and b, print result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3886200"/>
            <a:ext cx="8412480" cy="347472"/>
          </a:xfrm>
          <a:prstGeom prst="rect">
            <a:avLst/>
          </a:prstGeom>
          <a:solidFill>
            <a:srgbClr val="E4E4E4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8862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subtract &lt;a&gt; &lt;b&gt;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200400" y="388620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equation b from a, print result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5760" y="4242816"/>
            <a:ext cx="8412480" cy="34747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428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num_vars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200400" y="424281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number of distinct variables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65760" y="4599432"/>
            <a:ext cx="8412480" cy="347472"/>
          </a:xfrm>
          <a:prstGeom prst="rect">
            <a:avLst/>
          </a:prstGeom>
          <a:solidFill>
            <a:srgbClr val="E4E4E4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5994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200400" y="459943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the solver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69080" cy="1737360"/>
          </a:xfrm>
          <a:prstGeom prst="rect">
            <a:avLst/>
          </a:prstGeom>
          <a:solidFill>
            <a:srgbClr val="F0F0F0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069080" cy="4389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Abdelsamie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formatting &amp; simplification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9202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simplify()   ·   toString()   ·   updateVarList()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69080" cy="1737360"/>
          </a:xfrm>
          <a:prstGeom prst="rect">
            <a:avLst/>
          </a:prstGeom>
          <a:solidFill>
            <a:srgbClr val="F0F0F0"/>
          </a:solidFill>
          <a:ln w="25400">
            <a:solidFill>
              <a:srgbClr val="2D2D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05840"/>
            <a:ext cx="4069080" cy="43891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Maiar Emam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64608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parsing &amp; equation reading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608" y="19202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parseTerm()   ·   readEquation()   ·   readEquations()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069080" cy="1737360"/>
          </a:xfrm>
          <a:prstGeom prst="rect">
            <a:avLst/>
          </a:prstGeom>
          <a:solidFill>
            <a:srgbClr val="F0F0F0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971800"/>
            <a:ext cx="4069080" cy="4389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971800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Muhammad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9768" y="3474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ops, Cramer's Rule, command loop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" y="38862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getCoeffMatrix()   ·   determinant()   ·   getCoeff()   ·   execute()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4069080" cy="1737360"/>
          </a:xfrm>
          <a:prstGeom prst="rect">
            <a:avLst/>
          </a:prstGeom>
          <a:solidFill>
            <a:srgbClr val="F0F0F0"/>
          </a:solidFill>
          <a:ln w="25400">
            <a:solidFill>
              <a:srgbClr val="44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971800"/>
            <a:ext cx="4069080" cy="43891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971800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Elsayed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64608" y="3474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algebra &amp; variable management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38862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addEq()   ·   subEq()   ·   substituteVar()   ·   updateVarList()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1A1A">
              <a:alpha val="8000"/>
            </a:srgbClr>
          </a:solidFill>
          <a:ln w="12700">
            <a:solidFill>
              <a:srgbClr val="1A1A1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2103120"/>
            <a:ext cx="3657600" cy="3657600"/>
          </a:xfrm>
          <a:prstGeom prst="ellipse">
            <a:avLst/>
          </a:prstGeom>
          <a:solidFill>
            <a:srgbClr val="2D2D2D">
              <a:alpha val="10000"/>
            </a:srgbClr>
          </a:solidFill>
          <a:ln w="12700">
            <a:solidFill>
              <a:srgbClr val="2D2D2D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Equation Solver · C++ OOP Project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Abdelsamie  ·  Maiar Emam  ·  Amr Muhammad  ·  Ahmad Elsayed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de of Main Fun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</a:rPr>
              <a:t>Code of Main Function</a:t>
            </a:r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4640" cy="3840480"/>
          </a:xfrm>
          <a:prstGeom prst="rect">
            <a:avLst/>
          </a:prstGeom>
          <a:solidFill>
            <a:srgbClr val="F5F5F5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91440" cy="3840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1371600" cy="228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onsolas" pitchFamily="34" charset="0"/>
              </a:rPr>
              <a:t xml:space="preserve">  main.cpp  </a:t>
            </a:r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</a:rPr>
              <a:t xml:space="preserve">#include </a:t>
            </a:r>
            <a:r>
              <a:rPr lang="en-US" sz="1000" dirty="0">
                <a:solidFill>
                  <a:srgbClr val="2D2D2D"/>
                </a:solidFill>
                <a:latin typeface="Consolas" pitchFamily="34" charset="0"/>
              </a:rPr>
              <a:t>&lt;iostream&gt;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</a:rPr>
              <a:t xml:space="preserve">#include </a:t>
            </a:r>
            <a:r>
              <a:rPr lang="en-US" sz="1000" dirty="0">
                <a:solidFill>
                  <a:srgbClr val="2D2D2D"/>
                </a:solidFill>
                <a:latin typeface="Consolas" pitchFamily="34" charset="0"/>
              </a:rPr>
              <a:t>"Solver.h"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</a:rPr>
              <a:t xml:space="preserve">using namespace </a:t>
            </a:r>
            <a:r>
              <a:rPr lang="en-US" sz="1000" dirty="0">
                <a:solidFill>
                  <a:srgbClr val="111111"/>
                </a:solidFill>
                <a:latin typeface="Consolas" pitchFamily="34" charset="0"/>
              </a:rPr>
              <a:t>std;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</a:rPr>
              <a:t xml:space="preserve"> 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</a:rPr>
              <a:t xml:space="preserve">int </a:t>
            </a:r>
            <a:r>
              <a:rPr lang="en-US" sz="1000" b="1" dirty="0">
                <a:solidFill>
                  <a:srgbClr val="2D2D2D"/>
                </a:solidFill>
                <a:latin typeface="Consolas" pitchFamily="34" charset="0"/>
              </a:rPr>
              <a:t>main</a:t>
            </a:r>
            <a:r>
              <a:rPr lang="en-US" sz="1000" dirty="0">
                <a:solidFill>
                  <a:srgbClr val="111111"/>
                </a:solidFill>
                <a:latin typeface="Consolas" pitchFamily="34" charset="0"/>
              </a:rPr>
              <a:t>() {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</a:rPr>
              <a:t xml:space="preserve">    Solver </a:t>
            </a:r>
            <a:r>
              <a:rPr lang="en-US" sz="1000" dirty="0">
                <a:solidFill>
                  <a:srgbClr val="111111"/>
                </a:solidFill>
                <a:latin typeface="Consolas" pitchFamily="34" charset="0"/>
              </a:rPr>
              <a:t>s;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</a:rPr>
              <a:t xml:space="preserve"> 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nsolas" pitchFamily="34" charset="0"/>
              </a:rPr>
              <a:t xml:space="preserve">    s.</a:t>
            </a:r>
            <a:r>
              <a:rPr lang="en-US" sz="1000" dirty="0">
                <a:solidFill>
                  <a:srgbClr val="2D2D2D"/>
                </a:solidFill>
                <a:latin typeface="Consolas" pitchFamily="34" charset="0"/>
              </a:rPr>
              <a:t>readEquations</a:t>
            </a:r>
            <a:r>
              <a:rPr lang="en-US" sz="1000" dirty="0">
                <a:solidFill>
                  <a:srgbClr val="111111"/>
                </a:solidFill>
                <a:latin typeface="Consolas" pitchFamily="34" charset="0"/>
              </a:rPr>
              <a:t xml:space="preserve">();  </a:t>
            </a:r>
            <a:r>
              <a:rPr lang="en-US" sz="900" i="1" dirty="0">
                <a:solidFill>
                  <a:srgbClr val="888888"/>
                </a:solidFill>
                <a:latin typeface="Consolas" pitchFamily="34" charset="0"/>
              </a:rPr>
              <a:t>// parseTerm() + readEquation() called inside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nsolas" pitchFamily="34" charset="0"/>
              </a:rPr>
              <a:t xml:space="preserve">    s.</a:t>
            </a:r>
            <a:r>
              <a:rPr lang="en-US" sz="1000" dirty="0">
                <a:solidFill>
                  <a:srgbClr val="2D2D2D"/>
                </a:solidFill>
                <a:latin typeface="Consolas" pitchFamily="34" charset="0"/>
              </a:rPr>
              <a:t>execute</a:t>
            </a:r>
            <a:r>
              <a:rPr lang="en-US" sz="1000" dirty="0">
                <a:solidFill>
                  <a:srgbClr val="111111"/>
                </a:solidFill>
                <a:latin typeface="Consolas" pitchFamily="34" charset="0"/>
              </a:rPr>
              <a:t xml:space="preserve">();  </a:t>
            </a:r>
            <a:r>
              <a:rPr lang="en-US" sz="900" i="1" dirty="0">
                <a:solidFill>
                  <a:srgbClr val="888888"/>
                </a:solidFill>
                <a:latin typeface="Consolas" pitchFamily="34" charset="0"/>
              </a:rPr>
              <a:t>// command loop: solve, add, subtract, D, ...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</a:rPr>
              <a:t xml:space="preserve"> 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</a:rPr>
              <a:t xml:space="preserve">    return </a:t>
            </a:r>
            <a:r>
              <a:rPr lang="en-US" sz="1000" dirty="0">
                <a:solidFill>
                  <a:srgbClr val="1A1A1A"/>
                </a:solidFill>
                <a:latin typeface="Consolas" pitchFamily="34" charset="0"/>
              </a:rPr>
              <a:t>0</a:t>
            </a:r>
            <a:r>
              <a:rPr lang="en-US" sz="1000" dirty="0">
                <a:solidFill>
                  <a:srgbClr val="111111"/>
                </a:solidFill>
                <a:latin typeface="Consolas" pitchFamily="34" charset="0"/>
              </a:rPr>
              <a:t>;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nsolas" pitchFamily="34" charset="0"/>
              </a:rPr>
              <a:t>}</a:t>
            </a:r>
          </a:p>
        </p:txBody>
      </p:sp>
      <p:sp>
        <p:nvSpPr>
          <p:cNvPr id="9" name="Text 7"/>
          <p:cNvSpPr/>
          <p:nvPr/>
        </p:nvSpPr>
        <p:spPr>
          <a:xfrm>
            <a:off x="274320" y="4892400"/>
            <a:ext cx="859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</a:rPr>
              <a:t>Call flow:  main  →  readEquations()  →  readEquation()  →  parseTerm()  →  updateVarList()  →  execute()</a:t>
            </a:r>
          </a:p>
        </p:txBody>
      </p:sp>
      <p:sp>
        <p:nvSpPr>
          <p:cNvPr id="10" name="Shap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ML Class Diagr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</a:rPr>
              <a:t>UML Class Diagram</a:t>
            </a:r>
            <a:r>
              <a:rPr lang="en-US" sz="2600" dirty="0">
                <a:solidFill>
                  <a:srgbClr val="666666"/>
                </a:solidFill>
                <a:latin typeface="Calibri" pitchFamily="34" charset="0"/>
              </a:rPr>
              <a:t xml:space="preserve">  —  Linear Equation Solver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pic>
        <p:nvPicPr>
          <p:cNvPr id="5" name="UML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8594640" cy="4343400"/>
          </a:xfrm>
          <a:prstGeom prst="rect">
            <a:avLst/>
          </a:prstGeom>
        </p:spPr>
      </p:pic>
      <p:sp>
        <p:nvSpPr>
          <p:cNvPr id="6" name="Shape 5"/>
          <p:cNvSpPr/>
          <p:nvPr/>
        </p:nvSpPr>
        <p:spPr>
          <a:xfrm>
            <a:off x="0" y="5052960"/>
            <a:ext cx="914400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Equation Solver - C++ Project</dc:title>
  <dc:subject>PptxGenJS Presentation</dc:subject>
  <dc:creator>PptxGenJS</dc:creator>
  <cp:lastModifiedBy>PptxGenJS</cp:lastModifiedBy>
  <cp:revision>1</cp:revision>
  <dcterms:created xsi:type="dcterms:W3CDTF">2026-03-07T19:00:30Z</dcterms:created>
  <dcterms:modified xsi:type="dcterms:W3CDTF">2026-03-07T19:00:30Z</dcterms:modified>
</cp:coreProperties>
</file>